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63" r:id="rId3"/>
    <p:sldId id="264" r:id="rId4"/>
    <p:sldId id="269" r:id="rId5"/>
    <p:sldId id="260" r:id="rId6"/>
    <p:sldId id="26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3"/>
    <p:restoredTop sz="94635"/>
  </p:normalViewPr>
  <p:slideViewPr>
    <p:cSldViewPr snapToGrid="0">
      <p:cViewPr>
        <p:scale>
          <a:sx n="97" d="100"/>
          <a:sy n="97" d="100"/>
        </p:scale>
        <p:origin x="14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321EF-F154-E840-BF91-DC97EE34FAE7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F71B5-F59B-1442-A0C6-F715B183E5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91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F67D87-E91E-6779-C4F5-0645AC7AD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98FD141-5C92-6B88-C635-0E848B57F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E58E69-FD16-1D8E-E6E7-BEAA4DD58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 altLang="ja-JP" dirty="0"/>
              <a:t>2XGxxxx </a:t>
            </a:r>
            <a:r>
              <a:rPr lang="ja-JP" altLang="en-US"/>
              <a:t>氏名</a:t>
            </a:r>
            <a:endParaRPr lang="ja-JP" altLang="en-US" sz="16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A785EB-42BE-4399-8779-48297E97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FC50434-EAD3-814A-82B7-0C260C598DEE}" type="slidenum">
              <a:rPr lang="ja-JP" altLang="en-US" smtClean="0"/>
              <a:pPr/>
              <a:t>‹#›</a:t>
            </a:fld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203044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9A800-A876-69EF-9F41-CB75D832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63E715-728E-F279-27A8-C089953C0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C9407C-C82B-7CAE-27CA-99C9B530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2XGxxxx </a:t>
            </a:r>
            <a:r>
              <a:rPr lang="ja-JP" altLang="en-US"/>
              <a:t>氏名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1A6039-CA1C-C981-9DD3-29E7E240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12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45944A-E26B-F87E-0DF6-4FD12421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D9F3474-7FF1-FC55-9BF5-308B8086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2XGxxxx </a:t>
            </a:r>
            <a:r>
              <a:rPr lang="ja-JP" altLang="en-US"/>
              <a:t>氏名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818892C-7BEB-C66B-71E4-0AFF4A1B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1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9A4E83B-CF77-45F1-C55F-BDDDAE47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2XGxxxx </a:t>
            </a:r>
            <a:r>
              <a:rPr lang="ja-JP" altLang="en-US"/>
              <a:t>氏名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9D704D-1455-4559-37EC-6AA860C6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60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AC8C99-2C1F-E0B4-474D-24AB0576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5448B0-0FA6-3B7A-8344-DD080319D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0FA3DC-15E7-F812-8353-9239C82D8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ja-JP" dirty="0"/>
              <a:t>2XGxxxx </a:t>
            </a:r>
            <a:r>
              <a:rPr lang="ja-JP" altLang="en-US"/>
              <a:t>氏名</a:t>
            </a:r>
            <a:endParaRPr lang="ja-JP" altLang="en-US" sz="16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D86AF1-8F48-2B01-EDD2-62A59985D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50434-EAD3-814A-82B7-0C260C598DEE}" type="slidenum">
              <a:rPr lang="ja-JP" altLang="en-US" smtClean="0"/>
              <a:pPr/>
              <a:t>‹#›</a:t>
            </a:fld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343072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A13B8-E171-1E58-65BC-CED2A4E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部品表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CD0DE1-6CF0-B08C-67D1-3CF96FA3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6200C8-ED67-435C-CC64-F5250794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809C52-A760-12D1-58FB-0EC32C8D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1</a:t>
            </a:fld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E915C54-C86B-C66A-FBE5-0840A1606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863084"/>
              </p:ext>
            </p:extLst>
          </p:nvPr>
        </p:nvGraphicFramePr>
        <p:xfrm>
          <a:off x="838201" y="1377864"/>
          <a:ext cx="10635640" cy="4978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043">
                  <a:extLst>
                    <a:ext uri="{9D8B030D-6E8A-4147-A177-3AD203B41FA5}">
                      <a16:colId xmlns:a16="http://schemas.microsoft.com/office/drawing/2014/main" val="808036476"/>
                    </a:ext>
                  </a:extLst>
                </a:gridCol>
                <a:gridCol w="800787">
                  <a:extLst>
                    <a:ext uri="{9D8B030D-6E8A-4147-A177-3AD203B41FA5}">
                      <a16:colId xmlns:a16="http://schemas.microsoft.com/office/drawing/2014/main" val="4216196633"/>
                    </a:ext>
                  </a:extLst>
                </a:gridCol>
                <a:gridCol w="2822538">
                  <a:extLst>
                    <a:ext uri="{9D8B030D-6E8A-4147-A177-3AD203B41FA5}">
                      <a16:colId xmlns:a16="http://schemas.microsoft.com/office/drawing/2014/main" val="2892296552"/>
                    </a:ext>
                  </a:extLst>
                </a:gridCol>
                <a:gridCol w="4666272">
                  <a:extLst>
                    <a:ext uri="{9D8B030D-6E8A-4147-A177-3AD203B41FA5}">
                      <a16:colId xmlns:a16="http://schemas.microsoft.com/office/drawing/2014/main" val="586081087"/>
                    </a:ext>
                  </a:extLst>
                </a:gridCol>
              </a:tblGrid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部品名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個数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型番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333254"/>
                  </a:ext>
                </a:extLst>
              </a:tr>
              <a:tr h="741477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マイクロコントローラ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Arduino Uno R4 </a:t>
                      </a:r>
                      <a:r>
                        <a:rPr kumimoji="1" lang="en-US" altLang="ja-JP" dirty="0" err="1"/>
                        <a:t>WiFi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59926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フルカラーセンサ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TCS34725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873413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フルカラー</a:t>
                      </a:r>
                      <a:r>
                        <a:rPr kumimoji="1" lang="en-US" altLang="ja-JP" dirty="0"/>
                        <a:t>LED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OSTA5131A-R/PG/B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26066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ブレッドボード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388084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タクトスイッチ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DTS-63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大学から借用予定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410152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可変抵抗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RK09D117000B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つまみ付き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731710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ジャンパーワイヤー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適宜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383835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ルーター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またはスマホによるデザリングで代用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08164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PC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Macbook</a:t>
                      </a:r>
                      <a:r>
                        <a:rPr kumimoji="1" lang="en-US" altLang="ja-JP" dirty="0"/>
                        <a:t> pro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Processing</a:t>
                      </a:r>
                      <a:r>
                        <a:rPr kumimoji="1" lang="ja-JP" altLang="en-US"/>
                        <a:t>，</a:t>
                      </a:r>
                      <a:r>
                        <a:rPr kumimoji="1" lang="en-US" altLang="ja-JP" dirty="0"/>
                        <a:t>USB Type-C</a:t>
                      </a:r>
                      <a:r>
                        <a:rPr kumimoji="1" lang="ja-JP" altLang="en-US"/>
                        <a:t>接続可能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256558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 to C</a:t>
                      </a:r>
                      <a:r>
                        <a:rPr kumimoji="1" lang="ja-JP" altLang="en-US"/>
                        <a:t>ケーブル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Arduino</a:t>
                      </a:r>
                      <a:r>
                        <a:rPr kumimoji="1" lang="ja-JP" altLang="en-US"/>
                        <a:t>と</a:t>
                      </a:r>
                      <a:r>
                        <a:rPr kumimoji="1" lang="en-US" altLang="ja-JP" dirty="0"/>
                        <a:t>PC</a:t>
                      </a:r>
                      <a:r>
                        <a:rPr kumimoji="1" lang="ja-JP" altLang="en-US"/>
                        <a:t>の接続用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370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67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66D49D-A65C-4859-7A03-94E9AF99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WBS(</a:t>
            </a:r>
            <a:r>
              <a:rPr kumimoji="1" lang="ja-JP" altLang="en-US"/>
              <a:t>基本設計と詳細設計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C3DCA3-7C3C-94FC-6706-79D8E0F0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52AD82-54B3-26A3-10F9-D87F09BA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2</a:t>
            </a:fld>
            <a:endParaRPr kumimoji="1" lang="ja-JP" altLang="en-US"/>
          </a:p>
        </p:txBody>
      </p:sp>
      <p:graphicFrame>
        <p:nvGraphicFramePr>
          <p:cNvPr id="6" name="コンテンツ プレースホルダー 8">
            <a:extLst>
              <a:ext uri="{FF2B5EF4-FFF2-40B4-BE49-F238E27FC236}">
                <a16:creationId xmlns:a16="http://schemas.microsoft.com/office/drawing/2014/main" id="{ECAFB949-A470-E211-341D-72F54664CA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217936"/>
              </p:ext>
            </p:extLst>
          </p:nvPr>
        </p:nvGraphicFramePr>
        <p:xfrm>
          <a:off x="245267" y="1402080"/>
          <a:ext cx="11701465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293">
                  <a:extLst>
                    <a:ext uri="{9D8B030D-6E8A-4147-A177-3AD203B41FA5}">
                      <a16:colId xmlns:a16="http://schemas.microsoft.com/office/drawing/2014/main" val="1639654112"/>
                    </a:ext>
                  </a:extLst>
                </a:gridCol>
                <a:gridCol w="2340293">
                  <a:extLst>
                    <a:ext uri="{9D8B030D-6E8A-4147-A177-3AD203B41FA5}">
                      <a16:colId xmlns:a16="http://schemas.microsoft.com/office/drawing/2014/main" val="3489603085"/>
                    </a:ext>
                  </a:extLst>
                </a:gridCol>
                <a:gridCol w="2340293">
                  <a:extLst>
                    <a:ext uri="{9D8B030D-6E8A-4147-A177-3AD203B41FA5}">
                      <a16:colId xmlns:a16="http://schemas.microsoft.com/office/drawing/2014/main" val="3465822726"/>
                    </a:ext>
                  </a:extLst>
                </a:gridCol>
                <a:gridCol w="2920842">
                  <a:extLst>
                    <a:ext uri="{9D8B030D-6E8A-4147-A177-3AD203B41FA5}">
                      <a16:colId xmlns:a16="http://schemas.microsoft.com/office/drawing/2014/main" val="3399873679"/>
                    </a:ext>
                  </a:extLst>
                </a:gridCol>
                <a:gridCol w="1759744">
                  <a:extLst>
                    <a:ext uri="{9D8B030D-6E8A-4147-A177-3AD203B41FA5}">
                      <a16:colId xmlns:a16="http://schemas.microsoft.com/office/drawing/2014/main" val="3556435254"/>
                    </a:ext>
                  </a:extLst>
                </a:gridCol>
              </a:tblGrid>
              <a:tr h="321310"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目的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フェーズ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タスク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活動タスク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担当者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86932379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LED</a:t>
                      </a:r>
                      <a:r>
                        <a:rPr kumimoji="1" lang="ja-JP" altLang="en-US" sz="1300"/>
                        <a:t>の発光色による光同期演奏システム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100 </a:t>
                      </a:r>
                      <a:r>
                        <a:rPr kumimoji="1" lang="ja-JP" altLang="en-US" sz="1300"/>
                        <a:t>設計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110 </a:t>
                      </a:r>
                      <a:r>
                        <a:rPr kumimoji="1" lang="ja-JP" altLang="en-US" sz="1300"/>
                        <a:t>基本設計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111 </a:t>
                      </a:r>
                      <a:r>
                        <a:rPr kumimoji="1" lang="ja-JP" altLang="en-US" sz="1300"/>
                        <a:t>楽器演奏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</a:t>
                      </a:r>
                      <a:r>
                        <a:rPr kumimoji="1" lang="ja-JP" altLang="en-US" sz="13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4086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112 Web</a:t>
                      </a:r>
                      <a:r>
                        <a:rPr kumimoji="1" lang="ja-JP" altLang="en-US" sz="1300"/>
                        <a:t>サイト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金枝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50751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113 LED</a:t>
                      </a:r>
                      <a:r>
                        <a:rPr kumimoji="1" lang="ja-JP" altLang="en-US" sz="1300"/>
                        <a:t>マトリクスデザイン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3</a:t>
                      </a:r>
                      <a:r>
                        <a:rPr kumimoji="1" lang="ja-JP" altLang="en-US" sz="13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051581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120 </a:t>
                      </a:r>
                      <a:r>
                        <a:rPr kumimoji="1" lang="ja-JP" altLang="en-US" sz="1300"/>
                        <a:t>詳細設計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121 LED </a:t>
                      </a:r>
                      <a:r>
                        <a:rPr kumimoji="1" lang="ja-JP" altLang="en-US" sz="1300"/>
                        <a:t>点滅機能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378484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122 </a:t>
                      </a:r>
                      <a:r>
                        <a:rPr kumimoji="1" lang="ja-JP" altLang="en-US" sz="1300"/>
                        <a:t>受光機能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16521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123 </a:t>
                      </a:r>
                      <a:r>
                        <a:rPr kumimoji="1" lang="ja-JP" altLang="en-US" sz="1300"/>
                        <a:t>演奏開始・停止ボタン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216034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124 Arduino</a:t>
                      </a:r>
                      <a:r>
                        <a:rPr kumimoji="1" lang="ja-JP" altLang="en-US" sz="1300"/>
                        <a:t>と</a:t>
                      </a:r>
                      <a:r>
                        <a:rPr kumimoji="1" lang="en-US" altLang="ja-JP" sz="1300" dirty="0"/>
                        <a:t>Processing</a:t>
                      </a:r>
                      <a:r>
                        <a:rPr kumimoji="1" lang="ja-JP" altLang="en-US" sz="1300"/>
                        <a:t>の通信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40254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125 </a:t>
                      </a:r>
                      <a:r>
                        <a:rPr kumimoji="1" lang="ja-JP" altLang="en-US" sz="1300"/>
                        <a:t>テンポ変更機能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48521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126 </a:t>
                      </a:r>
                      <a:r>
                        <a:rPr kumimoji="1" lang="ja-JP" altLang="en-US" sz="1300"/>
                        <a:t>楽器変更機能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金枝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81823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128 </a:t>
                      </a:r>
                      <a:r>
                        <a:rPr kumimoji="1" lang="ja-JP" altLang="en-US" sz="1300"/>
                        <a:t>楽器音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</a:t>
                      </a:r>
                      <a:r>
                        <a:rPr kumimoji="1" lang="ja-JP" altLang="en-US" sz="13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0494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129 </a:t>
                      </a:r>
                      <a:r>
                        <a:rPr kumimoji="1" lang="ja-JP" altLang="en-US" sz="1300"/>
                        <a:t>楽器配列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恩田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41933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130 LED </a:t>
                      </a:r>
                      <a:r>
                        <a:rPr kumimoji="1" lang="ja-JP" altLang="en-US" sz="1300"/>
                        <a:t>マトリクス文字配列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3</a:t>
                      </a:r>
                      <a:r>
                        <a:rPr kumimoji="1" lang="ja-JP" altLang="en-US" sz="13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795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200 </a:t>
                      </a:r>
                      <a:r>
                        <a:rPr kumimoji="1" lang="ja-JP" altLang="en-US" sz="1300"/>
                        <a:t>機材調達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210 </a:t>
                      </a:r>
                      <a:r>
                        <a:rPr kumimoji="1" lang="ja-JP" altLang="en-US" sz="1300"/>
                        <a:t>部品選定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211 </a:t>
                      </a:r>
                      <a:r>
                        <a:rPr kumimoji="1" lang="ja-JP" altLang="en-US" sz="1300"/>
                        <a:t>購入，借用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358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28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668E4-F6E1-CC7E-D49A-6BF43612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0667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WBS(</a:t>
            </a:r>
            <a:r>
              <a:rPr kumimoji="1" lang="ja-JP" altLang="en-US"/>
              <a:t>実装とテスト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1086DB39-862C-7CEE-E1FB-4F296E432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335608"/>
              </p:ext>
            </p:extLst>
          </p:nvPr>
        </p:nvGraphicFramePr>
        <p:xfrm>
          <a:off x="838199" y="763903"/>
          <a:ext cx="10634665" cy="528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933">
                  <a:extLst>
                    <a:ext uri="{9D8B030D-6E8A-4147-A177-3AD203B41FA5}">
                      <a16:colId xmlns:a16="http://schemas.microsoft.com/office/drawing/2014/main" val="2913966340"/>
                    </a:ext>
                  </a:extLst>
                </a:gridCol>
                <a:gridCol w="2126933">
                  <a:extLst>
                    <a:ext uri="{9D8B030D-6E8A-4147-A177-3AD203B41FA5}">
                      <a16:colId xmlns:a16="http://schemas.microsoft.com/office/drawing/2014/main" val="3536444626"/>
                    </a:ext>
                  </a:extLst>
                </a:gridCol>
                <a:gridCol w="2126933">
                  <a:extLst>
                    <a:ext uri="{9D8B030D-6E8A-4147-A177-3AD203B41FA5}">
                      <a16:colId xmlns:a16="http://schemas.microsoft.com/office/drawing/2014/main" val="1794615019"/>
                    </a:ext>
                  </a:extLst>
                </a:gridCol>
                <a:gridCol w="2126933">
                  <a:extLst>
                    <a:ext uri="{9D8B030D-6E8A-4147-A177-3AD203B41FA5}">
                      <a16:colId xmlns:a16="http://schemas.microsoft.com/office/drawing/2014/main" val="2355070958"/>
                    </a:ext>
                  </a:extLst>
                </a:gridCol>
                <a:gridCol w="2126933">
                  <a:extLst>
                    <a:ext uri="{9D8B030D-6E8A-4147-A177-3AD203B41FA5}">
                      <a16:colId xmlns:a16="http://schemas.microsoft.com/office/drawing/2014/main" val="1027687412"/>
                    </a:ext>
                  </a:extLst>
                </a:gridCol>
              </a:tblGrid>
              <a:tr h="16288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目的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フェーズ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タスク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活動タスク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担当者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574671"/>
                  </a:ext>
                </a:extLst>
              </a:tr>
              <a:tr h="272607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LED</a:t>
                      </a:r>
                      <a:r>
                        <a:rPr kumimoji="1" lang="ja-JP" altLang="en-US" sz="1100"/>
                        <a:t>の発光色による光同期システム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300 </a:t>
                      </a:r>
                      <a:r>
                        <a:rPr kumimoji="1" lang="ja-JP" altLang="en-US" sz="1100"/>
                        <a:t>実装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310 </a:t>
                      </a:r>
                      <a:r>
                        <a:rPr kumimoji="1" lang="ja-JP" altLang="en-US" sz="1100"/>
                        <a:t>楽器音作成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311 </a:t>
                      </a:r>
                      <a:r>
                        <a:rPr kumimoji="1" lang="ja-JP" altLang="en-US" sz="1100"/>
                        <a:t>ピアノ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595028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312 </a:t>
                      </a:r>
                      <a:r>
                        <a:rPr kumimoji="1" lang="ja-JP" altLang="en-US" sz="1100"/>
                        <a:t>フルート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427445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313 </a:t>
                      </a:r>
                      <a:r>
                        <a:rPr kumimoji="1" lang="ja-JP" altLang="en-US" sz="1100"/>
                        <a:t>ヴァイオリン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恩田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74175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314 </a:t>
                      </a:r>
                      <a:r>
                        <a:rPr kumimoji="1" lang="ja-JP" altLang="en-US" sz="1100"/>
                        <a:t>パーカッション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</a:t>
                      </a:r>
                      <a:r>
                        <a:rPr kumimoji="1" lang="ja-JP" altLang="en-US" sz="11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232179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320 </a:t>
                      </a:r>
                      <a:r>
                        <a:rPr kumimoji="1" lang="ja-JP" altLang="en-US" sz="1100"/>
                        <a:t>同期システム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321 </a:t>
                      </a:r>
                      <a:r>
                        <a:rPr kumimoji="1" lang="ja-JP" altLang="en-US" sz="1100"/>
                        <a:t>光信号発信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739301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322 </a:t>
                      </a:r>
                      <a:r>
                        <a:rPr kumimoji="1" lang="ja-JP" altLang="en-US" sz="1100"/>
                        <a:t>光信号受信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578975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330 Web</a:t>
                      </a:r>
                      <a:r>
                        <a:rPr kumimoji="1" lang="ja-JP" altLang="en-US" sz="1100"/>
                        <a:t>サイト作成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331 </a:t>
                      </a:r>
                      <a:r>
                        <a:rPr kumimoji="1" lang="ja-JP" altLang="en-US" sz="1100"/>
                        <a:t>テンポ変更機能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17156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332 </a:t>
                      </a:r>
                      <a:r>
                        <a:rPr kumimoji="1" lang="ja-JP" altLang="en-US" sz="1100"/>
                        <a:t>楽器変更機能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金枝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104501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340 </a:t>
                      </a:r>
                      <a:r>
                        <a:rPr kumimoji="1" lang="ja-JP" altLang="en-US" sz="1100"/>
                        <a:t>演出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341 LED</a:t>
                      </a:r>
                      <a:r>
                        <a:rPr kumimoji="1" lang="ja-JP" altLang="en-US" sz="1100"/>
                        <a:t>マトリクス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</a:t>
                      </a:r>
                      <a:r>
                        <a:rPr kumimoji="1" lang="ja-JP" altLang="en-US" sz="11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156606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400 </a:t>
                      </a:r>
                      <a:r>
                        <a:rPr kumimoji="1" lang="ja-JP" altLang="en-US" sz="1100"/>
                        <a:t>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410 </a:t>
                      </a:r>
                      <a:r>
                        <a:rPr kumimoji="1" lang="ja-JP" altLang="en-US" sz="1100"/>
                        <a:t>単体テスト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411 </a:t>
                      </a:r>
                      <a:r>
                        <a:rPr kumimoji="1" lang="ja-JP" altLang="en-US" sz="1100"/>
                        <a:t>楽器音テスト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</a:t>
                      </a:r>
                      <a:r>
                        <a:rPr kumimoji="1" lang="ja-JP" altLang="en-US" sz="11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53471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412 </a:t>
                      </a:r>
                      <a:r>
                        <a:rPr kumimoji="1" lang="ja-JP" altLang="en-US" sz="1100"/>
                        <a:t>遅延テスト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853224"/>
                  </a:ext>
                </a:extLst>
              </a:tr>
              <a:tr h="272607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413 </a:t>
                      </a:r>
                      <a:r>
                        <a:rPr kumimoji="1" lang="ja-JP" altLang="en-US" sz="1100"/>
                        <a:t>開始停止ツイッチテスト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恩田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245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414 </a:t>
                      </a:r>
                      <a:r>
                        <a:rPr kumimoji="1" lang="ja-JP" altLang="en-US" sz="1100"/>
                        <a:t>テンポ変更スイッチテスト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267566"/>
                  </a:ext>
                </a:extLst>
              </a:tr>
              <a:tr h="272607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415 </a:t>
                      </a:r>
                      <a:r>
                        <a:rPr kumimoji="1" lang="ja-JP" altLang="en-US" sz="1100"/>
                        <a:t>楽器変更スイッチテスト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630586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420 </a:t>
                      </a:r>
                      <a:r>
                        <a:rPr kumimoji="1" lang="ja-JP" altLang="en-US" sz="1100"/>
                        <a:t>統合テスト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421 </a:t>
                      </a:r>
                      <a:r>
                        <a:rPr kumimoji="1" lang="ja-JP" altLang="en-US" sz="1100"/>
                        <a:t>光通信の同期テスト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6469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422 </a:t>
                      </a:r>
                      <a:r>
                        <a:rPr kumimoji="1" lang="ja-JP" altLang="en-US" sz="1100"/>
                        <a:t>接続テスト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86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423 </a:t>
                      </a:r>
                      <a:r>
                        <a:rPr kumimoji="1" lang="ja-JP" altLang="en-US" sz="1100"/>
                        <a:t>遅延テスト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93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424 </a:t>
                      </a:r>
                      <a:r>
                        <a:rPr kumimoji="1" lang="ja-JP" altLang="en-US" sz="1100"/>
                        <a:t>合唱成立テスト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783022"/>
                  </a:ext>
                </a:extLst>
              </a:tr>
            </a:tbl>
          </a:graphicData>
        </a:graphic>
      </p:graphicFrame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735808-98F9-85B4-A137-E1D9238B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25G1125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B98E25-501B-E3B8-5152-E2F8A3AA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24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9E9D5-E75F-8A14-F91B-B9DA558B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役割分担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6EEBF5-9594-11C0-75C9-69C7E918B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590D2D6-8021-927E-96A7-41A7781E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5DC59C4B-EFAE-FB17-0DF1-1C0AB58D541A}"/>
              </a:ext>
            </a:extLst>
          </p:cNvPr>
          <p:cNvSpPr/>
          <p:nvPr/>
        </p:nvSpPr>
        <p:spPr>
          <a:xfrm>
            <a:off x="536871" y="1363684"/>
            <a:ext cx="3507975" cy="2252262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283A1CEB-DBF5-10DD-C5D7-C794D6793D2E}"/>
              </a:ext>
            </a:extLst>
          </p:cNvPr>
          <p:cNvSpPr/>
          <p:nvPr/>
        </p:nvSpPr>
        <p:spPr>
          <a:xfrm>
            <a:off x="4197244" y="3860539"/>
            <a:ext cx="3507975" cy="2079201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84F5F3A1-C66B-439D-FE69-5E95075E9B91}"/>
              </a:ext>
            </a:extLst>
          </p:cNvPr>
          <p:cNvSpPr/>
          <p:nvPr/>
        </p:nvSpPr>
        <p:spPr>
          <a:xfrm>
            <a:off x="536871" y="3860539"/>
            <a:ext cx="3507975" cy="2079201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50BF39BF-E46C-6906-9E35-F05211C7D981}"/>
              </a:ext>
            </a:extLst>
          </p:cNvPr>
          <p:cNvSpPr/>
          <p:nvPr/>
        </p:nvSpPr>
        <p:spPr>
          <a:xfrm>
            <a:off x="4197245" y="1363684"/>
            <a:ext cx="3507975" cy="2252260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B3384B6D-9E51-DEFF-AAC9-126000670CE6}"/>
              </a:ext>
            </a:extLst>
          </p:cNvPr>
          <p:cNvSpPr/>
          <p:nvPr/>
        </p:nvSpPr>
        <p:spPr>
          <a:xfrm>
            <a:off x="7857619" y="3860538"/>
            <a:ext cx="4001006" cy="2079201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565ACDAC-5AD1-B461-3EFF-005E8A8C18DE}"/>
              </a:ext>
            </a:extLst>
          </p:cNvPr>
          <p:cNvSpPr/>
          <p:nvPr/>
        </p:nvSpPr>
        <p:spPr>
          <a:xfrm>
            <a:off x="7857619" y="1363683"/>
            <a:ext cx="4001006" cy="2252259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8FE22E-2B7A-FE51-A45B-DC5878D1876B}"/>
              </a:ext>
            </a:extLst>
          </p:cNvPr>
          <p:cNvSpPr txBox="1"/>
          <p:nvPr/>
        </p:nvSpPr>
        <p:spPr>
          <a:xfrm>
            <a:off x="4491458" y="15191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ysClr val="windowText" lastClr="000000"/>
                </a:solidFill>
              </a:rPr>
              <a:t>佐藤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E660E29-0CFF-0962-E4BE-679F709215B9}"/>
              </a:ext>
            </a:extLst>
          </p:cNvPr>
          <p:cNvSpPr txBox="1"/>
          <p:nvPr/>
        </p:nvSpPr>
        <p:spPr>
          <a:xfrm>
            <a:off x="4491458" y="4038494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ysClr val="windowText" lastClr="000000"/>
                </a:solidFill>
              </a:rPr>
              <a:t>3</a:t>
            </a:r>
            <a:r>
              <a:rPr kumimoji="1" lang="ja-JP" altLang="en-US" sz="2400">
                <a:solidFill>
                  <a:sysClr val="windowText" lastClr="000000"/>
                </a:solidFill>
              </a:rPr>
              <a:t>年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51CA631-A097-E904-1962-8BAFB877F30D}"/>
              </a:ext>
            </a:extLst>
          </p:cNvPr>
          <p:cNvSpPr txBox="1"/>
          <p:nvPr/>
        </p:nvSpPr>
        <p:spPr>
          <a:xfrm>
            <a:off x="8167575" y="400074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ysClr val="windowText" lastClr="000000"/>
                </a:solidFill>
              </a:rPr>
              <a:t>全員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99DEA00-75F8-D98E-2CA8-5971FDC05822}"/>
              </a:ext>
            </a:extLst>
          </p:cNvPr>
          <p:cNvSpPr txBox="1"/>
          <p:nvPr/>
        </p:nvSpPr>
        <p:spPr>
          <a:xfrm>
            <a:off x="826406" y="4038494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ysClr val="windowText" lastClr="000000"/>
                </a:solidFill>
              </a:rPr>
              <a:t>2</a:t>
            </a:r>
            <a:r>
              <a:rPr lang="ja-JP" altLang="en-US" sz="2400">
                <a:solidFill>
                  <a:sysClr val="windowText" lastClr="000000"/>
                </a:solidFill>
              </a:rPr>
              <a:t>年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0C7E7F2-A544-D351-0E04-0F296564893E}"/>
              </a:ext>
            </a:extLst>
          </p:cNvPr>
          <p:cNvSpPr txBox="1"/>
          <p:nvPr/>
        </p:nvSpPr>
        <p:spPr>
          <a:xfrm>
            <a:off x="8210210" y="15191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ysClr val="windowText" lastClr="000000"/>
                </a:solidFill>
              </a:rPr>
              <a:t>恩田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DC4E34C-C025-0A14-9EE0-858FD9293A55}"/>
              </a:ext>
            </a:extLst>
          </p:cNvPr>
          <p:cNvSpPr txBox="1"/>
          <p:nvPr/>
        </p:nvSpPr>
        <p:spPr>
          <a:xfrm>
            <a:off x="741331" y="15191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ysClr val="windowText" lastClr="000000"/>
                </a:solidFill>
              </a:rPr>
              <a:t>飯塚</a:t>
            </a:r>
            <a:endParaRPr kumimoji="1" lang="ja-JP" altLang="en-US" sz="2400">
              <a:solidFill>
                <a:sysClr val="windowText" lastClr="00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A8C879-A5B2-7DD9-93C0-3270AB93B495}"/>
              </a:ext>
            </a:extLst>
          </p:cNvPr>
          <p:cNvSpPr txBox="1"/>
          <p:nvPr/>
        </p:nvSpPr>
        <p:spPr>
          <a:xfrm>
            <a:off x="4334382" y="1890432"/>
            <a:ext cx="30123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en-US" altLang="ja-JP" dirty="0">
                <a:solidFill>
                  <a:sysClr val="windowText" lastClr="000000"/>
                </a:solidFill>
              </a:rPr>
              <a:t>LED</a:t>
            </a:r>
            <a:r>
              <a:rPr kumimoji="1" lang="ja-JP" altLang="en-US">
                <a:solidFill>
                  <a:sysClr val="windowText" lastClr="000000"/>
                </a:solidFill>
              </a:rPr>
              <a:t>点滅機能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テンポ変更機能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フルート音作成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光信号発信機能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遅延テスト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楽器変更スイッチテスト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FC3F927-9B10-1F13-0150-52E678ABCE2B}"/>
              </a:ext>
            </a:extLst>
          </p:cNvPr>
          <p:cNvSpPr txBox="1"/>
          <p:nvPr/>
        </p:nvSpPr>
        <p:spPr>
          <a:xfrm>
            <a:off x="709318" y="1861616"/>
            <a:ext cx="33906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受光機能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en-US" altLang="ja-JP" dirty="0">
                <a:solidFill>
                  <a:sysClr val="windowText" lastClr="000000"/>
                </a:solidFill>
              </a:rPr>
              <a:t>Arduino</a:t>
            </a:r>
            <a:r>
              <a:rPr lang="ja-JP" altLang="en-US">
                <a:solidFill>
                  <a:sysClr val="windowText" lastClr="000000"/>
                </a:solidFill>
              </a:rPr>
              <a:t>と</a:t>
            </a:r>
            <a:r>
              <a:rPr lang="en-US" altLang="ja-JP" dirty="0">
                <a:solidFill>
                  <a:sysClr val="windowText" lastClr="000000"/>
                </a:solidFill>
              </a:rPr>
              <a:t>Processing</a:t>
            </a:r>
            <a:r>
              <a:rPr lang="ja-JP" altLang="en-US">
                <a:solidFill>
                  <a:sysClr val="windowText" lastClr="000000"/>
                </a:solidFill>
              </a:rPr>
              <a:t>の通信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ピアノ音作成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光信号受信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テンポ変更スイッチテスト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EC5B8B-F5C5-DD5C-FEBF-B006C95A0695}"/>
              </a:ext>
            </a:extLst>
          </p:cNvPr>
          <p:cNvSpPr txBox="1"/>
          <p:nvPr/>
        </p:nvSpPr>
        <p:spPr>
          <a:xfrm>
            <a:off x="7994756" y="1888492"/>
            <a:ext cx="30123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演奏開始・停止ボタン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楽譜配列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ヴァイオリン音作成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開始停止スイッチテスト</a:t>
            </a:r>
            <a:endParaRPr lang="en-US" altLang="ja-JP" dirty="0">
              <a:solidFill>
                <a:sysClr val="windowText" lastClr="00000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2B38EDC-4490-A8D8-0377-6CDF97488DE2}"/>
              </a:ext>
            </a:extLst>
          </p:cNvPr>
          <p:cNvSpPr txBox="1"/>
          <p:nvPr/>
        </p:nvSpPr>
        <p:spPr>
          <a:xfrm>
            <a:off x="730431" y="4462413"/>
            <a:ext cx="19159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楽器演奏機能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楽器音作成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楽器音テスト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ja-JP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7F2EE00-EB2C-CECF-FE71-A71F49C7FD17}"/>
              </a:ext>
            </a:extLst>
          </p:cNvPr>
          <p:cNvSpPr txBox="1"/>
          <p:nvPr/>
        </p:nvSpPr>
        <p:spPr>
          <a:xfrm>
            <a:off x="4344000" y="4462412"/>
            <a:ext cx="30027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en-US" altLang="ja-JP" dirty="0">
                <a:solidFill>
                  <a:sysClr val="windowText" lastClr="000000"/>
                </a:solidFill>
              </a:rPr>
              <a:t>LED</a:t>
            </a:r>
            <a:r>
              <a:rPr kumimoji="1" lang="ja-JP" altLang="en-US">
                <a:solidFill>
                  <a:sysClr val="windowText" lastClr="000000"/>
                </a:solidFill>
              </a:rPr>
              <a:t>マトリクスデザイン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en-US" altLang="ja-JP" dirty="0">
                <a:solidFill>
                  <a:sysClr val="windowText" lastClr="000000"/>
                </a:solidFill>
              </a:rPr>
              <a:t>LED</a:t>
            </a:r>
            <a:r>
              <a:rPr lang="ja-JP" altLang="en-US">
                <a:solidFill>
                  <a:sysClr val="windowText" lastClr="000000"/>
                </a:solidFill>
              </a:rPr>
              <a:t>マトリクス文字配列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パーカッション音作成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D8FFF0-89E3-0036-3E5C-AD69FBAB46EC}"/>
              </a:ext>
            </a:extLst>
          </p:cNvPr>
          <p:cNvSpPr txBox="1"/>
          <p:nvPr/>
        </p:nvSpPr>
        <p:spPr>
          <a:xfrm>
            <a:off x="7994756" y="4462412"/>
            <a:ext cx="3704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光通信の同期テスト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接続テスト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遅延テスト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合奏が成立しているかのテスト</a:t>
            </a:r>
            <a:endParaRPr lang="en-US" altLang="ja-JP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14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41A06-5D7B-9C30-6C33-FD62D768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CE66FF-CE8C-41C7-F1C4-3ABA7C624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920"/>
            <a:ext cx="10515600" cy="1325563"/>
          </a:xfrm>
        </p:spPr>
        <p:txBody>
          <a:bodyPr/>
          <a:lstStyle/>
          <a:p>
            <a:r>
              <a:rPr kumimoji="1" lang="ja-JP" altLang="en-US"/>
              <a:t>ガントチャート</a:t>
            </a:r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7C7B4386-D1E2-976B-E0F0-4921065CE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38130"/>
            <a:ext cx="10515600" cy="5674425"/>
          </a:xfrm>
          <a:prstGeom prst="rect">
            <a:avLst/>
          </a:prstGeom>
        </p:spPr>
      </p:pic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F5A86D-A950-A6DF-CDE2-850C8750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495391-B8ED-9DD7-43F2-7F2F001F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03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EC00F-F607-1AB0-AD6A-CBA099A3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A479EA-3F1A-CE1E-BB5C-11BB95C98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5F0059-CCEB-5993-DF76-5CA9B5CB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FE16B41-4BB9-F7C4-C502-83643A695F40}"/>
              </a:ext>
            </a:extLst>
          </p:cNvPr>
          <p:cNvSpPr txBox="1"/>
          <p:nvPr/>
        </p:nvSpPr>
        <p:spPr>
          <a:xfrm>
            <a:off x="681176" y="1429078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・既存技術の問題点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42093F-998B-3DD7-C9AA-A6E86CE9A7A5}"/>
              </a:ext>
            </a:extLst>
          </p:cNvPr>
          <p:cNvSpPr txBox="1"/>
          <p:nvPr/>
        </p:nvSpPr>
        <p:spPr>
          <a:xfrm>
            <a:off x="838200" y="2062144"/>
            <a:ext cx="83070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有線通信</a:t>
            </a:r>
            <a:r>
              <a:rPr lang="en-US" altLang="ja-JP" sz="2800" dirty="0"/>
              <a:t>: </a:t>
            </a:r>
            <a:r>
              <a:rPr lang="ja-JP" altLang="en-US" sz="2800"/>
              <a:t>配線制約</a:t>
            </a:r>
            <a:endParaRPr lang="en-US" altLang="ja-JP" sz="2800" dirty="0"/>
          </a:p>
          <a:p>
            <a:r>
              <a:rPr lang="ja-JP" altLang="en-US" sz="2800"/>
              <a:t>無線通信</a:t>
            </a:r>
            <a:r>
              <a:rPr lang="en-US" altLang="ja-JP" sz="2800" dirty="0"/>
              <a:t>(Wi-Fi</a:t>
            </a:r>
            <a:r>
              <a:rPr lang="ja-JP" altLang="en-US" sz="2800"/>
              <a:t>，</a:t>
            </a:r>
            <a:r>
              <a:rPr lang="en-US" altLang="ja-JP" sz="2800" dirty="0"/>
              <a:t>Bluetooth): </a:t>
            </a:r>
            <a:r>
              <a:rPr lang="ja-JP" altLang="en-US" sz="2800"/>
              <a:t>通信遅延，電波干渉</a:t>
            </a:r>
            <a:r>
              <a:rPr lang="en-US" altLang="ja-JP" sz="2800" dirty="0"/>
              <a:t> </a:t>
            </a:r>
            <a:endParaRPr kumimoji="1" lang="ja-JP" altLang="en-US" sz="28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F5D5B8-5737-1994-3F4E-FB429ADDF08A}"/>
              </a:ext>
            </a:extLst>
          </p:cNvPr>
          <p:cNvSpPr txBox="1"/>
          <p:nvPr/>
        </p:nvSpPr>
        <p:spPr>
          <a:xfrm>
            <a:off x="681176" y="4156434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・提案手法</a:t>
            </a:r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A2BDE266-97BF-10FD-C657-462DF0781DC7}"/>
              </a:ext>
            </a:extLst>
          </p:cNvPr>
          <p:cNvSpPr/>
          <p:nvPr/>
        </p:nvSpPr>
        <p:spPr>
          <a:xfrm>
            <a:off x="5297092" y="3480198"/>
            <a:ext cx="484632" cy="61155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3F1A0C-141E-F348-DEF9-3219CA5CE502}"/>
              </a:ext>
            </a:extLst>
          </p:cNvPr>
          <p:cNvSpPr txBox="1"/>
          <p:nvPr/>
        </p:nvSpPr>
        <p:spPr>
          <a:xfrm>
            <a:off x="838200" y="4738827"/>
            <a:ext cx="97900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800"/>
              <a:t>単一のフルカラーLEDとArduinoを用いた光無線通信による楽器間同期演奏システム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E90EB42A-5F40-E395-E913-4A6BFF00DAE0}"/>
              </a:ext>
            </a:extLst>
          </p:cNvPr>
          <p:cNvSpPr/>
          <p:nvPr/>
        </p:nvSpPr>
        <p:spPr>
          <a:xfrm>
            <a:off x="450574" y="1304787"/>
            <a:ext cx="10177669" cy="21681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6CFFEBA3-3915-B503-8A7B-1EABDEDB58CD}"/>
              </a:ext>
            </a:extLst>
          </p:cNvPr>
          <p:cNvSpPr/>
          <p:nvPr/>
        </p:nvSpPr>
        <p:spPr>
          <a:xfrm>
            <a:off x="450573" y="4087995"/>
            <a:ext cx="10177669" cy="21681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81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4460</TotalTime>
  <Words>466</Words>
  <Application>Microsoft Macintosh PowerPoint</Application>
  <PresentationFormat>ワイド画面</PresentationFormat>
  <Paragraphs>185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Wingdings</vt:lpstr>
      <vt:lpstr>Office テーマ</vt:lpstr>
      <vt:lpstr>部品表</vt:lpstr>
      <vt:lpstr>WBS(基本設計と詳細設計)</vt:lpstr>
      <vt:lpstr>WBS(実装とテスト)</vt:lpstr>
      <vt:lpstr>役割分担</vt:lpstr>
      <vt:lpstr>ガントチャート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荘司　あかね</dc:creator>
  <cp:lastModifiedBy>三芝　空音</cp:lastModifiedBy>
  <cp:revision>25</cp:revision>
  <dcterms:created xsi:type="dcterms:W3CDTF">2026-05-13T08:23:18Z</dcterms:created>
  <dcterms:modified xsi:type="dcterms:W3CDTF">2026-05-17T14:18:35Z</dcterms:modified>
</cp:coreProperties>
</file>